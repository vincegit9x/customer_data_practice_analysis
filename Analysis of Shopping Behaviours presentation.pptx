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5275" y="2408039"/>
            <a:ext cx="11601450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0F172A"/>
                </a:solidFill>
                <a:latin typeface="Montserrat"/>
              </a:rPr>
              <a:t>Analysis of Shopping Behaviours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4107060"/>
            <a:ext cx="11049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475569"/>
                </a:solidFill>
                <a:latin typeface="Open Sans"/>
              </a:rPr>
              <a:t>Extracting insights from 3,900 customer transactions to drive strategic business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15639" y="2405062"/>
            <a:ext cx="5760720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2563EB"/>
                </a:solidFill>
                <a:latin typeface="Montserrat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338512"/>
            <a:ext cx="7620000" cy="1114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b="0" sz="1950" i="0" u="none">
                <a:solidFill>
                  <a:srgbClr val="334155"/>
                </a:solidFill>
                <a:latin typeface="Open Sans"/>
              </a:rPr>
              <a:t>Analyzing transactional data encompassing customer demographics, purchase details, and shopping behaviors across multiple product categories to inform key business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124075"/>
            <a:ext cx="3492549" cy="36671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799" y="2124075"/>
            <a:ext cx="3492549" cy="3667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2124075"/>
            <a:ext cx="3492549" cy="3667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Montserrat SemiBold"/>
              </a:rPr>
              <a:t>Data Preparation &amp;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3181350"/>
            <a:ext cx="205025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Montserrat"/>
              </a:rPr>
              <a:t>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648075"/>
            <a:ext cx="2921049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Open Sans"/>
              </a:rPr>
              <a:t>Addressed missing values in the Review Ratings column by using the category median, preventing outlier skew and ensuring robust data consistency.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5549" y="3181350"/>
            <a:ext cx="229028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Montserrat"/>
              </a:rPr>
              <a:t>Standardization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549" y="3648075"/>
            <a:ext cx="2921049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Open Sans"/>
              </a:rPr>
              <a:t>Renamed variables to snake_case format for enhanced readability. Removed redundant columns (e.g., duplicate promo codes) to optimize the dataset.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3849" y="3181350"/>
            <a:ext cx="302037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Montserrat"/>
              </a:rPr>
              <a:t>Feature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3849" y="3648075"/>
            <a:ext cx="2921049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Open Sans"/>
              </a:rPr>
              <a:t>Created distinct "Age Groups" (Young Adult to Senior) via quantiles and standardized purchase frequency into a numerical "Days" column for detailed cohort analysis.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543175"/>
            <a:ext cx="428625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49" y="2543175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3849" y="2543175"/>
            <a:ext cx="476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Montserrat SemiBold"/>
              </a:rPr>
              <a:t>Key Dashboard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1500" y="3119437"/>
            <a:ext cx="523875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b="1" sz="9750" i="0" u="none">
                <a:solidFill>
                  <a:srgbClr val="2563EB"/>
                </a:solidFill>
                <a:latin typeface="Montserrat"/>
              </a:rPr>
              <a:t>3.8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452937"/>
            <a:ext cx="52387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950" i="0" u="none">
                <a:solidFill>
                  <a:srgbClr val="64748B"/>
                </a:solidFill>
                <a:latin typeface="Open Sans SemiBold"/>
              </a:rPr>
              <a:t>Average Review 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2724150"/>
            <a:ext cx="5500687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1E293B"/>
                </a:solidFill>
                <a:latin typeface="Montserrat"/>
              </a:rPr>
              <a:t>Overall Business 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1750" y="3190875"/>
            <a:ext cx="5238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Open Sans"/>
              </a:rPr>
              <a:t>The dataset represents a strong sample size of nearly 4,000 customers. The average purchase amount stands at </a:t>
            </a:r>
            <a:r>
              <a:rPr b="1" sz="1500" i="0" u="none">
                <a:solidFill>
                  <a:srgbClr val="334155"/>
                </a:solidFill>
                <a:latin typeface="Open Sans"/>
              </a:rPr>
              <a:t>$59.76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per transaction.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81750" y="4191000"/>
            <a:ext cx="52387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Open Sans"/>
              </a:rPr>
              <a:t>Customer satisfaction is solid with an average rating of 3.8/5.0, forming a reliable foundation for analyzing long-term purchasing behavior and product success.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457325"/>
            <a:ext cx="11049000" cy="50006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00050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Montserrat SemiBold"/>
              </a:rPr>
              <a:t>Subscription Status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03822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5743575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1" u="none">
                <a:solidFill>
                  <a:srgbClr val="334155"/>
                </a:solidFill>
                <a:latin typeface="Open Sans"/>
              </a:rPr>
              <a:t>Despite a lower subscriber base (1,053 customers), driving membership remains crucial. Non-subscribers currently account for the majority of the $170,436 total non-subscriber revenue.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28775"/>
            <a:ext cx="11049000" cy="4657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Montserrat SemiBold"/>
              </a:rPr>
              <a:t>Revenue by Age Group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1500" y="4981575"/>
            <a:ext cx="8572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1" u="none">
                <a:solidFill>
                  <a:srgbClr val="334155"/>
                </a:solidFill>
                <a:latin typeface="Open Sans"/>
              </a:rPr>
              <a:t>The "Young Adult" segment is the highest revenue driver, closely followed by the "Middle-aged" cohort, indicating a strong appeal of the product catalog to younger demographics.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Montserrat SemiBold"/>
              </a:rPr>
              <a:t>Top Performing Products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157412"/>
          <a:ext cx="11048998" cy="3600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242393"/>
                <a:gridCol w="2732037"/>
                <a:gridCol w="2838450"/>
                <a:gridCol w="3236118"/>
              </a:tblGrid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Open Sans"/>
                        </a:rPr>
                        <a:t>Category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Open Sans"/>
                        </a:rPr>
                        <a:t>Top Product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Open Sans"/>
                        </a:rPr>
                        <a:t>Total Orders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500" i="0" u="none">
                          <a:solidFill>
                            <a:srgbClr val="0F172A"/>
                          </a:solidFill>
                          <a:latin typeface="Open Sans"/>
                        </a:rPr>
                        <a:t>Average Rating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Accessories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Jewelry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171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3.7+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Clothing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Blouse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171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3.7+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Footwear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Sandals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160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3.84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Outerwear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Jacket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163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3.7+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Accessories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Gloves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140+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500" i="0" u="none">
                          <a:solidFill>
                            <a:srgbClr val="334155"/>
                          </a:solidFill>
                          <a:latin typeface="Open Sans"/>
                        </a:rPr>
                        <a:t>3.86 (Highest rated)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743200"/>
            <a:ext cx="224239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13893" y="2743200"/>
            <a:ext cx="273203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45931" y="2743200"/>
            <a:ext cx="2838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84381" y="2743200"/>
            <a:ext cx="323611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3343275"/>
            <a:ext cx="224239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13893" y="3343275"/>
            <a:ext cx="273203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45931" y="3343275"/>
            <a:ext cx="2838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84381" y="3343275"/>
            <a:ext cx="323611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943350"/>
            <a:ext cx="224239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3893" y="3943350"/>
            <a:ext cx="273203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45931" y="3943350"/>
            <a:ext cx="2838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84381" y="3943350"/>
            <a:ext cx="323611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1500" y="4543425"/>
            <a:ext cx="224239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13893" y="4543425"/>
            <a:ext cx="273203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545931" y="4543425"/>
            <a:ext cx="2838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84381" y="4543425"/>
            <a:ext cx="323611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5143500"/>
            <a:ext cx="224239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13893" y="5143500"/>
            <a:ext cx="273203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45931" y="5143500"/>
            <a:ext cx="2838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384381" y="5143500"/>
            <a:ext cx="323611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1500" y="5743575"/>
            <a:ext cx="2242393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813893" y="5743575"/>
            <a:ext cx="2732037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45931" y="5743575"/>
            <a:ext cx="283845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4381" y="5743575"/>
            <a:ext cx="3236118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576387"/>
            <a:ext cx="5238750" cy="381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19112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Montserrat SemiBold"/>
              </a:rPr>
              <a:t>Customer Loyalty &amp; Shipping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1157287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3425" y="1576387"/>
            <a:ext cx="76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Open Sans"/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1576387"/>
            <a:ext cx="5000625" cy="11430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Open Sans"/>
              </a:rPr>
              <a:t>Loyalty vs. Subscription: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The vast majority of our base (3,116 customers) fall into the "Loyal" segment based on repeat purchases. However, 2,518 repeat buyers remain non-subscribers.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2909887"/>
            <a:ext cx="76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Open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909887"/>
            <a:ext cx="5000625" cy="114300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Open Sans"/>
              </a:rPr>
              <a:t>High-Spend via Discounts: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839 customers were identified as high-spenders who aggressively utilize discounts, specifically on items like Hats (50% discount rate).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243387"/>
            <a:ext cx="76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Open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4243387"/>
            <a:ext cx="5000625" cy="8572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Open Sans"/>
              </a:rPr>
              <a:t>Shipping Preferences: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Customers using Express Shipping spend an average of $60.48 per order, marginally higher than Standard Shipping users ($58.46).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5291137"/>
            <a:ext cx="76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Open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5291137"/>
            <a:ext cx="5000625" cy="857250"/>
          </a:xfrm>
          <a:prstGeom prst="rect">
            <a:avLst/>
          </a:prstGeom>
          <a:noFill/>
        </p:spPr>
        <p:txBody>
          <a:bodyPr wrap="square" lIns="7620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334155"/>
                </a:solidFill>
                <a:latin typeface="Open Sans"/>
              </a:rPr>
              <a:t>Gender Disparity: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Male customers generated significantly more revenue ($157,890) compared to Female customers ($75,191).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0" y="1576387"/>
            <a:ext cx="523875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5500687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Montserrat SemiBold"/>
              </a:rPr>
              <a:t>Strategic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704975"/>
            <a:ext cx="523875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0"/>
            <a:ext cx="58102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125" y="2124075"/>
            <a:ext cx="48101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F172A"/>
                </a:solidFill>
                <a:latin typeface="Open Sans"/>
              </a:rPr>
              <a:t>Customer Loyalty Program: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Implement targeted incentives to officially migrate the 3,116 repeat buyers into an engaged loyalty tier.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125" y="3219450"/>
            <a:ext cx="481012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F172A"/>
                </a:solidFill>
                <a:latin typeface="Open Sans"/>
              </a:rPr>
              <a:t>Enhance Subscriptions: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Promote premium benefits to increase the current 27% subscriber base, focusing on the 2,518 frequent buyers who have yet to subscribe.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125" y="4600575"/>
            <a:ext cx="4810125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F172A"/>
                </a:solidFill>
                <a:latin typeface="Open Sans"/>
              </a:rPr>
              <a:t>Targeted Marketing: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Focus ad spend on the high-revenue Young Adult and Male demographics, while promoting Express shipping upgrades.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125" y="5695950"/>
            <a:ext cx="4810125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1" sz="1500" i="0" u="none">
                <a:solidFill>
                  <a:srgbClr val="0F172A"/>
                </a:solidFill>
                <a:latin typeface="Open Sans"/>
              </a:rPr>
              <a:t>Review Discount Policy:</a:t>
            </a:r>
            <a:r>
              <a:rPr b="0" sz="1500" i="0" u="none">
                <a:solidFill>
                  <a:srgbClr val="334155"/>
                </a:solidFill>
                <a:latin typeface="Open Sans"/>
              </a:rPr>
              <a:t> Adjust promotional strategies on top-discounted items (like Hats/Sneakers) to balance sales volume with margin control.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8362"/>
            <a:ext cx="314325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33737"/>
            <a:ext cx="314325" cy="2571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14862"/>
            <a:ext cx="247650" cy="2571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710237"/>
            <a:ext cx="247650" cy="257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5275" y="2538412"/>
            <a:ext cx="1160145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6750" i="0" u="none">
                <a:solidFill>
                  <a:srgbClr val="2563EB"/>
                </a:solidFill>
                <a:latin typeface="Montserrat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3776662"/>
            <a:ext cx="11049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2100" i="0" u="none">
                <a:solidFill>
                  <a:srgbClr val="334155"/>
                </a:solidFill>
                <a:latin typeface="Open Sans"/>
              </a:rPr>
              <a:t>We are now open for questions regarding the analysis and strategic recommendations.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3150" i="0" u="none">
                <a:solidFill>
                  <a:srgbClr val="0F172A"/>
                </a:solidFill>
                <a:latin typeface="Montserrat SemiBold"/>
              </a:rPr>
              <a:t>Image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71500" y="1209675"/>
            <a:ext cx="11049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190875"/>
            <a:ext cx="85058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952875"/>
            <a:ext cx="85058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952875"/>
            <a:ext cx="85058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333750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66875" y="3340893"/>
            <a:ext cx="74104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Open Sans"/>
              </a:rPr>
              <a:t>https://www.edesk.com/wp-content/uploads/2020/04/eCommerce-packaging.jpg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3574256"/>
            <a:ext cx="7410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www.edesk.com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10527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66875" y="4112418"/>
            <a:ext cx="7410450" cy="1857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Open Sans"/>
              </a:rPr>
              <a:t>https://images.stockcake.com/public/d/5/6/d56e3a33-8fa6-4b5c-938a-2e97c87df1c6_medium/business-team-analysis-stockcake.jpg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4345781"/>
            <a:ext cx="74104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Open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Open Sans"/>
              </a:rPr>
              <a:t>stockcake.com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